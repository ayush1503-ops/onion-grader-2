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6EA"/>
                </a:solidFill>
              </a:defRPr>
            </a:pPr>
            <a:r>
              <a:t>OnionQuality: AI-based Onion Grading App</a:t>
            </a:r>
          </a:p>
          <a:p>
            <a:pPr algn="ctr">
              <a:defRPr sz="2400">
                <a:solidFill>
                  <a:srgbClr val="D98E3F"/>
                </a:solidFill>
              </a:defRPr>
            </a:pPr>
            <a:r>
              <a:t>Smart India Hackathon 2026  ·  SIH26031</a:t>
            </a:r>
          </a:p>
          <a:p>
            <a:pPr algn="ctr">
              <a:defRPr sz="1800">
                <a:solidFill>
                  <a:srgbClr val="F0E2CE"/>
                </a:solidFill>
              </a:defRPr>
            </a:pPr>
            <a:r>
              <a:t>Ministry of Consumer Affairs, Food &amp; Public Distribution — DoCA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6EA"/>
                </a:solidFill>
              </a:defRPr>
            </a:pPr>
            <a:r>
              <a:t>Team &lt;Your Team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7A3B12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7A3B12"/>
                </a:solidFill>
              </a:defRPr>
            </a:pPr>
            <a:r>
              <a:t>Onion quality grading at procurement centres is SUBJECTIVE —</a:t>
            </a:r>
          </a:p>
          <a:p>
            <a:pPr>
              <a:spcAft>
                <a:spcPts val="1000"/>
              </a:spcAft>
              <a:defRPr sz="2200" b="0">
                <a:solidFill>
                  <a:srgbClr val="2A1C10"/>
                </a:solidFill>
              </a:defRPr>
            </a:pPr>
            <a:r>
              <a:t>it depends on the person looking at the lot, and it varies from centre to centre.</a:t>
            </a:r>
          </a:p>
          <a:p>
            <a:pPr>
              <a:spcAft>
                <a:spcPts val="1000"/>
              </a:spcAft>
              <a:defRPr sz="12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665A4A"/>
                </a:solidFill>
              </a:defRPr>
            </a:pPr>
            <a:r>
              <a:t>This causes:</a:t>
            </a:r>
          </a:p>
          <a:p>
            <a:pPr>
              <a:spcAft>
                <a:spcPts val="1000"/>
              </a:spcAft>
              <a:defRPr sz="2200" b="0">
                <a:solidFill>
                  <a:srgbClr val="2A1C10"/>
                </a:solidFill>
              </a:defRPr>
            </a:pPr>
            <a:r>
              <a:t>• disputes between farmers and procurement agencies</a:t>
            </a:r>
          </a:p>
          <a:p>
            <a:pPr>
              <a:spcAft>
                <a:spcPts val="1000"/>
              </a:spcAft>
              <a:defRPr sz="2200" b="0">
                <a:solidFill>
                  <a:srgbClr val="2A1C10"/>
                </a:solidFill>
              </a:defRPr>
            </a:pPr>
            <a:r>
              <a:t>• inconsistent prices for the same quality of onions</a:t>
            </a:r>
          </a:p>
          <a:p>
            <a:pPr>
              <a:spcAft>
                <a:spcPts val="1000"/>
              </a:spcAft>
              <a:defRPr sz="2200" b="0">
                <a:solidFill>
                  <a:srgbClr val="2A1C10"/>
                </a:solidFill>
              </a:defRPr>
            </a:pPr>
            <a:r>
              <a:t>• no instant, shareable record of quality at the time of procurement</a:t>
            </a:r>
          </a:p>
          <a:p>
            <a:pPr>
              <a:spcAft>
                <a:spcPts val="1000"/>
              </a:spcAft>
              <a:defRPr sz="12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400" b="1">
                <a:solidFill>
                  <a:srgbClr val="C0392B"/>
                </a:solidFill>
              </a:defRPr>
            </a:pPr>
            <a:r>
              <a:t>A fair, fast, transparent, AI-assisted grading system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7A3B12"/>
                </a:solidFill>
              </a:defRPr>
            </a:pPr>
            <a:r>
              <a:t>Our Solution — one photo in, a full report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7A3B12"/>
                </a:solidFill>
              </a:defRPr>
            </a:pPr>
            <a:r>
              <a:t>A mobile web app. Take ONE photo of the batch → get instant quality grading.</a:t>
            </a:r>
          </a:p>
          <a:p>
            <a:pPr>
              <a:spcAft>
                <a:spcPts val="1000"/>
              </a:spcAft>
              <a:defRPr sz="10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1.  DETECTS every onion in the photo (computer vision)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2.  CLASSIFIES each: Damaged / Rotten / Sprouted / Undersized / Good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3.  MEASURES diameter (mm) using a coin as scale reference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4.  COMPUTES Grade A % and URS % (relaxed-spec) automatically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5.  GENERATES a digital quality report instantly (JSON + card image)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7A3B12"/>
                </a:solidFill>
              </a:defRPr>
            </a:pPr>
            <a:r>
              <a:t>How it works —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65A4A"/>
                </a:solidFill>
              </a:defRPr>
            </a:pPr>
            <a:r>
              <a:t>[ Photo ] → [ Segment each onion ] → [ Extract features ] → [ Classify ] → [ Grade % ] → [ Report ]</a:t>
            </a:r>
          </a:p>
          <a:p>
            <a:pPr>
              <a:spcAft>
                <a:spcPts val="1000"/>
              </a:spcAft>
              <a:defRPr sz="8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Segmentation:  Otsu thresholding + morphology → find each onion's contour</a:t>
            </a:r>
          </a:p>
          <a:p>
            <a:pPr>
              <a:spcAft>
                <a:spcPts val="1000"/>
              </a:spcAft>
              <a:defRPr sz="2000" b="1">
                <a:solidFill>
                  <a:srgbClr val="7A3B12"/>
                </a:solidFill>
              </a:defRPr>
            </a:pPr>
            <a:r>
              <a:t>Features (visible only):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   • Colour (HSV) — brown/dark = damage or rot, green = sprout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   • Shape — circularity, size (diameter in mm via coin reference)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   • Texture — surface roughness via gray-level statistics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Rules → GOOD (Grade A 45–65 mm / URS 35–70 mm) or REJECT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7A3B12"/>
                </a:solidFill>
              </a:defRPr>
            </a:pPr>
            <a:r>
              <a:t>What a camera can and cannot see (we are honest)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A7A1A"/>
                </a:solidFill>
              </a:defRPr>
            </a:pPr>
            <a:r>
              <a:t>CAN detect (visible surface):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   discoloration, bruises, rot/mold on the skin, sprouts, undersized bulbs, shape</a:t>
            </a:r>
          </a:p>
          <a:p>
            <a:pPr>
              <a:spcAft>
                <a:spcPts val="1000"/>
              </a:spcAft>
              <a:defRPr sz="8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200" b="1">
                <a:solidFill>
                  <a:srgbClr val="C0392B"/>
                </a:solidFill>
              </a:defRPr>
            </a:pPr>
            <a:r>
              <a:t>CANNOT detect: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   internal rot, hidden damage, internal moisture — anything not visible in the photo</a:t>
            </a:r>
          </a:p>
          <a:p>
            <a:pPr>
              <a:spcAft>
                <a:spcPts val="1000"/>
              </a:spcAft>
              <a:defRPr sz="8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200" b="1">
                <a:solidFill>
                  <a:srgbClr val="7A3B12"/>
                </a:solidFill>
              </a:defRPr>
            </a:pPr>
            <a:r>
              <a:t>This boundary is stated in the app and the report — transparency is the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7A3B12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Phase 1 (built):  rule-based grader + mobile web app + digital report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Phase 2:  labelled dataset → ML classifier → better accuracy per defect type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Phase 3:  CNN on-device (TensorFlow Lite) for offline Android/iOS app</a:t>
            </a:r>
          </a:p>
          <a:p>
            <a:pPr>
              <a:spcAft>
                <a:spcPts val="1000"/>
              </a:spcAft>
              <a:defRPr sz="2000" b="0">
                <a:solidFill>
                  <a:srgbClr val="2A1C10"/>
                </a:solidFill>
              </a:defRPr>
            </a:pPr>
            <a:r>
              <a:t>Phase 4:  regional-language UI (Hindi + others), procurement-centre integration</a:t>
            </a:r>
          </a:p>
          <a:p>
            <a:pPr>
              <a:spcAft>
                <a:spcPts val="1000"/>
              </a:spcAft>
              <a:defRPr sz="1000" b="0">
                <a:solidFill>
                  <a:srgbClr val="2A1C10"/>
                </a:solidFill>
              </a:defRPr>
            </a:pPr>
          </a:p>
          <a:p>
            <a:pPr>
              <a:spcAft>
                <a:spcPts val="1000"/>
              </a:spcAft>
              <a:defRPr sz="2600" b="1">
                <a:solidFill>
                  <a:srgbClr val="7A3B12"/>
                </a:solidFill>
              </a:defRPr>
            </a:pPr>
            <a:r>
              <a:t>Live demo —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D9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6EA"/>
                </a:solidFill>
              </a:defRPr>
            </a:pPr>
            <a:r>
              <a:t>Live demo follows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